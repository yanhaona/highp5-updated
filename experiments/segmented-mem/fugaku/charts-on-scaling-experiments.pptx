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Conjugate Gradient with 51200 Square Matrix for 51200 Iterations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Sheet1!$A$3:$A$8</c:f>
              <c:strCache>
                <c:ptCount val="6"/>
                <c:pt idx="0">
                  <c:v>2 Nodes</c:v>
                </c:pt>
                <c:pt idx="1">
                  <c:v>4 Nodes</c:v>
                </c:pt>
                <c:pt idx="2">
                  <c:v>8 Nodes</c:v>
                </c:pt>
                <c:pt idx="3">
                  <c:v>16 Nodes</c:v>
                </c:pt>
                <c:pt idx="4">
                  <c:v>32 Nodes</c:v>
                </c:pt>
                <c:pt idx="5">
                  <c:v>64 Nodes</c:v>
                </c:pt>
              </c:strCache>
            </c:strRef>
          </c:cat>
          <c:val>
            <c:numRef>
              <c:f>Sheet1!$B$3:$B$8</c:f>
              <c:numCache>
                <c:formatCode>General</c:formatCode>
                <c:ptCount val="6"/>
                <c:pt idx="0">
                  <c:v>4006.9069999999992</c:v>
                </c:pt>
                <c:pt idx="1">
                  <c:v>2023.9879999999998</c:v>
                </c:pt>
                <c:pt idx="2">
                  <c:v>1043.2260000000001</c:v>
                </c:pt>
                <c:pt idx="3">
                  <c:v>560.59919999999988</c:v>
                </c:pt>
                <c:pt idx="4">
                  <c:v>330.03049999999996</c:v>
                </c:pt>
                <c:pt idx="5">
                  <c:v>271.54720000000003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18-4ED2-A7AC-0BC96441EC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HighP5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Sheet1!$A$3:$A$8</c:f>
              <c:strCache>
                <c:ptCount val="6"/>
                <c:pt idx="0">
                  <c:v>2 Nodes</c:v>
                </c:pt>
                <c:pt idx="1">
                  <c:v>4 Nodes</c:v>
                </c:pt>
                <c:pt idx="2">
                  <c:v>8 Nodes</c:v>
                </c:pt>
                <c:pt idx="3">
                  <c:v>16 Nodes</c:v>
                </c:pt>
                <c:pt idx="4">
                  <c:v>32 Nodes</c:v>
                </c:pt>
                <c:pt idx="5">
                  <c:v>64 Nodes</c:v>
                </c:pt>
              </c:strCache>
            </c:strRef>
          </c:cat>
          <c:val>
            <c:numRef>
              <c:f>Sheet1!$C$3:$C$8</c:f>
              <c:numCache>
                <c:formatCode>General</c:formatCode>
                <c:ptCount val="6"/>
                <c:pt idx="0">
                  <c:v>4077.5369999999994</c:v>
                </c:pt>
                <c:pt idx="1">
                  <c:v>2070.9119999999998</c:v>
                </c:pt>
                <c:pt idx="2">
                  <c:v>1111.4569999999999</c:v>
                </c:pt>
                <c:pt idx="3">
                  <c:v>596.89470000000006</c:v>
                </c:pt>
                <c:pt idx="4">
                  <c:v>372.17089999999996</c:v>
                </c:pt>
                <c:pt idx="5">
                  <c:v>319.65960000000007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18-4ED2-A7AC-0BC96441EC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0322735"/>
        <c:axId val="220327311"/>
      </c:lineChart>
      <c:catAx>
        <c:axId val="220322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0327311"/>
        <c:crosses val="autoZero"/>
        <c:auto val="1"/>
        <c:lblAlgn val="ctr"/>
        <c:lblOffset val="100"/>
        <c:noMultiLvlLbl val="0"/>
      </c:catAx>
      <c:valAx>
        <c:axId val="220327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0322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4823708169291339"/>
          <c:y val="0.12469395148290163"/>
          <c:w val="0.24727571358267714"/>
          <c:h val="4.79623494117649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Block</a:t>
            </a:r>
            <a:r>
              <a:rPr lang="en-US" baseline="0" dirty="0"/>
              <a:t> LU Factorization of a 30720</a:t>
            </a:r>
            <a:r>
              <a:rPr lang="en-US" baseline="30000" dirty="0"/>
              <a:t>2</a:t>
            </a:r>
            <a:r>
              <a:rPr lang="en-US" baseline="0" dirty="0"/>
              <a:t> Square Matrix</a:t>
            </a:r>
            <a:endParaRPr lang="en-US" dirty="0"/>
          </a:p>
        </c:rich>
      </c:tx>
      <c:layout>
        <c:manualLayout>
          <c:xMode val="edge"/>
          <c:yMode val="edge"/>
          <c:x val="0.19107418799212597"/>
          <c:y val="2.343749855822474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 Node</c:v>
                </c:pt>
                <c:pt idx="1">
                  <c:v>2 Nodes</c:v>
                </c:pt>
                <c:pt idx="2">
                  <c:v>4 Nodes</c:v>
                </c:pt>
                <c:pt idx="3">
                  <c:v>8 Nodes</c:v>
                </c:pt>
                <c:pt idx="4">
                  <c:v>16 Nodes</c:v>
                </c:pt>
                <c:pt idx="5">
                  <c:v>32 Nodes</c:v>
                </c:pt>
                <c:pt idx="6">
                  <c:v>64 Nodes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4700.8419999999996</c:v>
                </c:pt>
                <c:pt idx="1">
                  <c:v>2495.6169999999997</c:v>
                </c:pt>
                <c:pt idx="2">
                  <c:v>1523.8869999999999</c:v>
                </c:pt>
                <c:pt idx="3">
                  <c:v>1065.3149999999998</c:v>
                </c:pt>
                <c:pt idx="4">
                  <c:v>640.49509999999998</c:v>
                </c:pt>
                <c:pt idx="5">
                  <c:v>544.44290000000001</c:v>
                </c:pt>
                <c:pt idx="6">
                  <c:v>682.47439999999983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2D-4B71-BF13-A46668797C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HighP5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 Node</c:v>
                </c:pt>
                <c:pt idx="1">
                  <c:v>2 Nodes</c:v>
                </c:pt>
                <c:pt idx="2">
                  <c:v>4 Nodes</c:v>
                </c:pt>
                <c:pt idx="3">
                  <c:v>8 Nodes</c:v>
                </c:pt>
                <c:pt idx="4">
                  <c:v>16 Nodes</c:v>
                </c:pt>
                <c:pt idx="5">
                  <c:v>32 Nodes</c:v>
                </c:pt>
                <c:pt idx="6">
                  <c:v>64 Nodes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6949.3290000000006</c:v>
                </c:pt>
                <c:pt idx="1">
                  <c:v>5642.6959999999999</c:v>
                </c:pt>
                <c:pt idx="2">
                  <c:v>2978.549</c:v>
                </c:pt>
                <c:pt idx="3">
                  <c:v>1565.0139999999999</c:v>
                </c:pt>
                <c:pt idx="4">
                  <c:v>815.62120000000004</c:v>
                </c:pt>
                <c:pt idx="5">
                  <c:v>607.71609999999998</c:v>
                </c:pt>
                <c:pt idx="6">
                  <c:v>497.44699999999995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2D-4B71-BF13-A46668797C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4407136"/>
        <c:axId val="1134399648"/>
      </c:lineChart>
      <c:catAx>
        <c:axId val="1134407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4399648"/>
        <c:crosses val="autoZero"/>
        <c:auto val="1"/>
        <c:lblAlgn val="ctr"/>
        <c:lblOffset val="100"/>
        <c:noMultiLvlLbl val="0"/>
      </c:catAx>
      <c:valAx>
        <c:axId val="1134399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4407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6386208169291339"/>
          <c:y val="0.13172520105036906"/>
          <c:w val="0.24727571358267714"/>
          <c:h val="4.79623494117649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Stencil with </a:t>
            </a:r>
            <a:r>
              <a:rPr lang="en-US" sz="1862" b="0" i="0" u="none" strike="noStrike" baseline="0" dirty="0">
                <a:effectLst/>
              </a:rPr>
              <a:t>100000 </a:t>
            </a:r>
            <a:r>
              <a:rPr lang="en-US" dirty="0"/>
              <a:t>Jacobi Iterations for 204800-by-2048</a:t>
            </a:r>
            <a:r>
              <a:rPr lang="en-US" baseline="0" dirty="0"/>
              <a:t> Plate</a:t>
            </a:r>
            <a:endParaRPr lang="en-US" dirty="0"/>
          </a:p>
        </c:rich>
      </c:tx>
      <c:layout>
        <c:manualLayout>
          <c:xMode val="edge"/>
          <c:yMode val="edge"/>
          <c:x val="0.113871062992126"/>
          <c:y val="1.4062499134934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 Node</c:v>
                </c:pt>
                <c:pt idx="1">
                  <c:v>2 Nodes</c:v>
                </c:pt>
                <c:pt idx="2">
                  <c:v>4 Nodes</c:v>
                </c:pt>
                <c:pt idx="3">
                  <c:v>8 Nodes</c:v>
                </c:pt>
                <c:pt idx="4">
                  <c:v>16 Nodes</c:v>
                </c:pt>
                <c:pt idx="5">
                  <c:v>32 Nodes</c:v>
                </c:pt>
                <c:pt idx="6">
                  <c:v>64 Nodes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27644.26</c:v>
                </c:pt>
                <c:pt idx="1">
                  <c:v>13808.63</c:v>
                </c:pt>
                <c:pt idx="2">
                  <c:v>6933.2729999999992</c:v>
                </c:pt>
                <c:pt idx="3">
                  <c:v>3481.451</c:v>
                </c:pt>
                <c:pt idx="4">
                  <c:v>1748.039</c:v>
                </c:pt>
                <c:pt idx="5">
                  <c:v>886.39760000000001</c:v>
                </c:pt>
                <c:pt idx="6">
                  <c:v>456.03099999999995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35-4265-A63D-A1785E8163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HighP5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 Node</c:v>
                </c:pt>
                <c:pt idx="1">
                  <c:v>2 Nodes</c:v>
                </c:pt>
                <c:pt idx="2">
                  <c:v>4 Nodes</c:v>
                </c:pt>
                <c:pt idx="3">
                  <c:v>8 Nodes</c:v>
                </c:pt>
                <c:pt idx="4">
                  <c:v>16 Nodes</c:v>
                </c:pt>
                <c:pt idx="5">
                  <c:v>32 Nodes</c:v>
                </c:pt>
                <c:pt idx="6">
                  <c:v>64 Nodes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6641.683</c:v>
                </c:pt>
                <c:pt idx="1">
                  <c:v>3843.1699999999996</c:v>
                </c:pt>
                <c:pt idx="2">
                  <c:v>2179.6869999999999</c:v>
                </c:pt>
                <c:pt idx="3">
                  <c:v>1308.828</c:v>
                </c:pt>
                <c:pt idx="4">
                  <c:v>862.16880000000003</c:v>
                </c:pt>
                <c:pt idx="5">
                  <c:v>636.93229999999994</c:v>
                </c:pt>
                <c:pt idx="6">
                  <c:v>537.04930000000002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35-4265-A63D-A1785E8163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66216927"/>
        <c:axId val="2066221503"/>
      </c:lineChart>
      <c:catAx>
        <c:axId val="2066216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6221503"/>
        <c:crosses val="autoZero"/>
        <c:auto val="1"/>
        <c:lblAlgn val="ctr"/>
        <c:lblOffset val="100"/>
        <c:noMultiLvlLbl val="0"/>
      </c:catAx>
      <c:valAx>
        <c:axId val="2066221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6216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7323708169291341"/>
          <c:y val="0.1457877001853039"/>
          <c:w val="0.24727571358267714"/>
          <c:h val="4.79623494117649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Comparative</a:t>
            </a:r>
            <a:r>
              <a:rPr lang="en-US" baseline="0" dirty="0"/>
              <a:t> Performance Assessment of Reference and HighP5 Nodes for 100 Nodes Scenario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Memory MGMT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Reference BLUF</c:v>
                </c:pt>
                <c:pt idx="1">
                  <c:v>HighP5 BLUF</c:v>
                </c:pt>
                <c:pt idx="2">
                  <c:v>Reference Stencil</c:v>
                </c:pt>
                <c:pt idx="3">
                  <c:v>HighP5 Stencil</c:v>
                </c:pt>
                <c:pt idx="4">
                  <c:v>Reference CG</c:v>
                </c:pt>
                <c:pt idx="5">
                  <c:v>HighP5 CG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0.50071717471226629</c:v>
                </c:pt>
                <c:pt idx="1">
                  <c:v>5.7176253378605629E-2</c:v>
                </c:pt>
                <c:pt idx="2">
                  <c:v>1.4291338197714953E-2</c:v>
                </c:pt>
                <c:pt idx="3">
                  <c:v>7.0738092045829495E-2</c:v>
                </c:pt>
                <c:pt idx="4">
                  <c:v>8.3487576698800747E-2</c:v>
                </c:pt>
                <c:pt idx="5">
                  <c:v>0.20011018093063157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59-4C5F-A92A-DFC755F9BD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Communication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Reference BLUF</c:v>
                </c:pt>
                <c:pt idx="1">
                  <c:v>HighP5 BLUF</c:v>
                </c:pt>
                <c:pt idx="2">
                  <c:v>Reference Stencil</c:v>
                </c:pt>
                <c:pt idx="3">
                  <c:v>HighP5 Stencil</c:v>
                </c:pt>
                <c:pt idx="4">
                  <c:v>Reference CG</c:v>
                </c:pt>
                <c:pt idx="5">
                  <c:v>HighP5 CG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0.11738893505027412</c:v>
                </c:pt>
                <c:pt idx="1">
                  <c:v>0.18946390545025929</c:v>
                </c:pt>
                <c:pt idx="2">
                  <c:v>0.10855967977084252</c:v>
                </c:pt>
                <c:pt idx="3">
                  <c:v>0.26244591210801449</c:v>
                </c:pt>
                <c:pt idx="4">
                  <c:v>0.53148984078213612</c:v>
                </c:pt>
                <c:pt idx="5">
                  <c:v>0.41642338035781151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59-4C5F-A92A-DFC755F9BD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Computation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Reference BLUF</c:v>
                </c:pt>
                <c:pt idx="1">
                  <c:v>HighP5 BLUF</c:v>
                </c:pt>
                <c:pt idx="2">
                  <c:v>Reference Stencil</c:v>
                </c:pt>
                <c:pt idx="3">
                  <c:v>HighP5 Stencil</c:v>
                </c:pt>
                <c:pt idx="4">
                  <c:v>Reference CG</c:v>
                </c:pt>
                <c:pt idx="5">
                  <c:v>HighP5 CG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0.38189405684582445</c:v>
                </c:pt>
                <c:pt idx="1">
                  <c:v>0.44256229982208223</c:v>
                </c:pt>
                <c:pt idx="2">
                  <c:v>0.87714920079437442</c:v>
                </c:pt>
                <c:pt idx="3">
                  <c:v>0.66791057700546352</c:v>
                </c:pt>
                <c:pt idx="4">
                  <c:v>0.38502171400835805</c:v>
                </c:pt>
                <c:pt idx="5">
                  <c:v>0.72024993082932609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59-4C5F-A92A-DFC755F9BD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64124192"/>
        <c:axId val="1164132928"/>
      </c:barChart>
      <c:catAx>
        <c:axId val="1164124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4132928"/>
        <c:crosses val="autoZero"/>
        <c:auto val="1"/>
        <c:lblAlgn val="ctr"/>
        <c:lblOffset val="100"/>
        <c:noMultiLvlLbl val="0"/>
      </c:catAx>
      <c:valAx>
        <c:axId val="1164132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4124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7448966535433073"/>
          <c:y val="0.18563144773428591"/>
          <c:w val="0.48539554625984255"/>
          <c:h val="4.79623494117649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Block</a:t>
            </a:r>
            <a:r>
              <a:rPr lang="en-US" sz="1400" baseline="0" dirty="0"/>
              <a:t> LU Factorization on 64 Nodes using 48 threads Per Node on 41952</a:t>
            </a:r>
            <a:r>
              <a:rPr lang="en-US" sz="1400" baseline="30000" dirty="0"/>
              <a:t>2 </a:t>
            </a:r>
            <a:r>
              <a:rPr lang="en-US" sz="1400" baseline="0" dirty="0"/>
              <a:t>matrix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Normalized Execution Time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Current Version</c:v>
                </c:pt>
                <c:pt idx="1">
                  <c:v>Disable Caching</c:v>
                </c:pt>
                <c:pt idx="2">
                  <c:v>Disable Buffer Processing Optimization</c:v>
                </c:pt>
                <c:pt idx="3">
                  <c:v>Disable Data Transfer Optimization</c:v>
                </c:pt>
                <c:pt idx="4">
                  <c:v>Disable Parallel Initialization</c:v>
                </c:pt>
                <c:pt idx="5">
                  <c:v>Disable Sync Primitive Optimization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1.0717561405326976</c:v>
                </c:pt>
                <c:pt idx="2">
                  <c:v>1.142444</c:v>
                </c:pt>
                <c:pt idx="3">
                  <c:v>1.2146854596331227</c:v>
                </c:pt>
                <c:pt idx="4">
                  <c:v>1.3928580681935951</c:v>
                </c:pt>
                <c:pt idx="5">
                  <c:v>1.9221486682557778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64-47A6-9D6F-307E7BC5EF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1261023"/>
        <c:axId val="521257695"/>
      </c:barChart>
      <c:catAx>
        <c:axId val="521261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257695"/>
        <c:crosses val="autoZero"/>
        <c:auto val="1"/>
        <c:lblAlgn val="ctr"/>
        <c:lblOffset val="100"/>
        <c:noMultiLvlLbl val="0"/>
      </c:catAx>
      <c:valAx>
        <c:axId val="521257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Normalized Execution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261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Stencil</a:t>
            </a:r>
            <a:r>
              <a:rPr lang="en-US" sz="1400" baseline="0" dirty="0"/>
              <a:t> on 64 Nodes using 48 threads Per Node on 409600 by 2048 Plates with 32 and 2 upper and lower layer padding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Normalized Execution Time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Current Version</c:v>
                </c:pt>
                <c:pt idx="1">
                  <c:v>Disable Caching</c:v>
                </c:pt>
                <c:pt idx="2">
                  <c:v>Disable Buffer Processing Optimization</c:v>
                </c:pt>
                <c:pt idx="3">
                  <c:v>Disable Data Transfer Optimization</c:v>
                </c:pt>
                <c:pt idx="4">
                  <c:v>Disable Parallel Initialization</c:v>
                </c:pt>
                <c:pt idx="5">
                  <c:v>Disable Sync Primitive Optimization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1.0008208846047562</c:v>
                </c:pt>
                <c:pt idx="2">
                  <c:v>1.0463921715242399</c:v>
                </c:pt>
                <c:pt idx="3">
                  <c:v>1.8228961784164242</c:v>
                </c:pt>
                <c:pt idx="4">
                  <c:v>1.8107739072481672</c:v>
                </c:pt>
                <c:pt idx="5">
                  <c:v>1.8703855719371247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9-4D82-BE82-9A7BD5FF71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1261023"/>
        <c:axId val="521257695"/>
      </c:barChart>
      <c:catAx>
        <c:axId val="521261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257695"/>
        <c:crosses val="autoZero"/>
        <c:auto val="1"/>
        <c:lblAlgn val="ctr"/>
        <c:lblOffset val="100"/>
        <c:noMultiLvlLbl val="0"/>
      </c:catAx>
      <c:valAx>
        <c:axId val="521257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Normalized Execution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261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C51E-3403-4AB1-9DC8-ADBB9DB6A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06478-492C-4F14-86B8-DA92A58B7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CB9AF-CED0-4850-889F-427F2E300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EE9AA-D8D4-4A85-A9F1-F7CEA2B6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A37DC-27A1-47CA-B3AA-7B944165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0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38C03-5B17-4E73-9366-DC3814F7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62552-4F65-486E-BDDD-E20FFF388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1B2CE-FB70-4C5D-803E-853306D6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30DB5-E225-4422-B50F-DB185FB4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0490E-975A-4CBC-BE1B-70AE473B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00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A450-388E-4315-BE10-D6809E5DD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78787-7525-4F3D-97CB-C0446C664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84B6D-EE19-422E-9C91-83631B9D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AC0E7-452F-49DB-B344-F8C57EEA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A786C-A7E2-4C4F-834E-8AAA31EC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82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3CB7-0065-4DD7-ABD0-71C1AF55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31C71-0638-4BE9-8D0E-4EC0326E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78D63-DF98-4BBE-94D3-5507CA30F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ADB0E-9261-451B-A522-951CCAFC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5A507-7894-447A-9C83-F3DBD13D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2B69B-681A-4591-A173-D236BF56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5C55-F1AE-4043-9851-31A850DA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FADC1-BBC1-408F-A870-0D060CDAC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6E4C9-0CC7-40F3-BEFE-E31F445D2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918F0-1384-4072-A2A1-F12500F04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F0FF8C-17B0-4966-A18C-AA54469B7D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10552C-65F9-4684-9236-39390D5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7461CD-7D78-4943-B8BE-D2C281F5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571F44-0239-49C2-B332-02A953F0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83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3526-DD3E-41B6-9E86-985C411F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A1CCE-293D-4C6B-929A-A9FE2E46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F3FBE-7FAD-45CA-B8A7-0DE0886E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0E968-B07E-4F7A-B6F8-4C25A3BC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01E661-19CA-4089-B92B-6FB25B616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F41D2-3A78-4AC4-875B-53C7D752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9A67A-C135-4C9C-AB11-8910D091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4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7271-0A73-49EB-AD43-C4485132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C7001-800B-4936-881F-F913F3F6B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6895A-080C-4321-8A57-D213BCF65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B9EFE-D670-4AC3-8841-E61B4FE6C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E7BD9-1BA2-4465-AC83-84D9CDD1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CE4A6-EA9B-40B9-9D46-7566B4AA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37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6447E-0DEA-4A95-9276-3EF8020C0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4D3968-EC2D-4B86-832D-B70AE8BE8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C3D58-B990-4C52-B59A-B89EC61BA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33DC5-2AF0-4B51-BA7C-F8744E0B9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E4A4C-8939-4BA5-BEB1-E4B5E1DC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1D10C-CCAC-4DFF-8DF4-761A8A55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5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B33F-D68E-4CFC-8545-05E4B917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6F14F-B287-468B-9950-388BB4B98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AC1B1-D84B-42E6-BC66-A112A806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B92BD-4D9E-4890-B576-244C7748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00C40-0CB9-4B1A-A37E-15547B77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67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D9310C-9C81-4FD9-A594-642709ACB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D61E1-19C0-4484-8C85-852B34A95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63489-4F68-4880-B42A-711EDB18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55BD-FE4B-4FA3-93BC-6F9532540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78BB7-00EF-4E42-B40A-B0E55F3E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90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C2780B-8E55-489A-99D2-ABBF0EB4D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7776C-F02F-4524-8A8A-6C317BB4C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E2089-65A0-4DE7-A9A1-D3ED28C07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5A472-BC6A-4C42-9683-9F251E574DEF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469AE-2CBD-444A-9BB9-F5F9A98FF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5254B-A3A4-477C-BCD9-96988CEB6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38D77-AC6E-4B11-B69F-3F9A3AC2C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5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57D81D0-1A2A-4891-BBD1-D8082788AD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851680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E1BF2E-1D14-4A56-9C55-5BC01EF51314}"/>
              </a:ext>
            </a:extLst>
          </p:cNvPr>
          <p:cNvSpPr txBox="1"/>
          <p:nvPr/>
        </p:nvSpPr>
        <p:spPr>
          <a:xfrm>
            <a:off x="1575881" y="1245140"/>
            <a:ext cx="430887" cy="341632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dirty="0"/>
              <a:t>Execution Time in Seconds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71379B-5A92-40A1-BF24-D184DDB40E3B}"/>
              </a:ext>
            </a:extLst>
          </p:cNvPr>
          <p:cNvSpPr txBox="1"/>
          <p:nvPr/>
        </p:nvSpPr>
        <p:spPr>
          <a:xfrm>
            <a:off x="4698459" y="5820828"/>
            <a:ext cx="46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Each Node used 8 CPU cores</a:t>
            </a:r>
          </a:p>
        </p:txBody>
      </p:sp>
    </p:spTree>
    <p:extLst>
      <p:ext uri="{BB962C8B-B14F-4D97-AF65-F5344CB8AC3E}">
        <p14:creationId xmlns:p14="http://schemas.microsoft.com/office/powerpoint/2010/main" val="265868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3C2C128-F578-4FF2-A41B-18954FE475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466301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E1D6B7-F58F-4325-89A2-3ADD5522B3E0}"/>
              </a:ext>
            </a:extLst>
          </p:cNvPr>
          <p:cNvSpPr txBox="1"/>
          <p:nvPr/>
        </p:nvSpPr>
        <p:spPr>
          <a:xfrm>
            <a:off x="1575881" y="1245140"/>
            <a:ext cx="430887" cy="341632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dirty="0"/>
              <a:t>Execution Time in Seconds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849E9-2412-4A4F-B267-9D2CA6DBFC02}"/>
              </a:ext>
            </a:extLst>
          </p:cNvPr>
          <p:cNvSpPr txBox="1"/>
          <p:nvPr/>
        </p:nvSpPr>
        <p:spPr>
          <a:xfrm>
            <a:off x="4698459" y="5820828"/>
            <a:ext cx="46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Each Node used 32 CPU cores</a:t>
            </a:r>
          </a:p>
        </p:txBody>
      </p:sp>
    </p:spTree>
    <p:extLst>
      <p:ext uri="{BB962C8B-B14F-4D97-AF65-F5344CB8AC3E}">
        <p14:creationId xmlns:p14="http://schemas.microsoft.com/office/powerpoint/2010/main" val="762318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7398987-48AC-4569-9A0C-0FE9D6F5A9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14028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E37F5E2-AD25-4361-889B-1DC79817F83F}"/>
              </a:ext>
            </a:extLst>
          </p:cNvPr>
          <p:cNvSpPr txBox="1"/>
          <p:nvPr/>
        </p:nvSpPr>
        <p:spPr>
          <a:xfrm>
            <a:off x="1575881" y="1245140"/>
            <a:ext cx="430887" cy="341632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600" dirty="0"/>
              <a:t>Execution Time in Seconds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54A67-7C65-47FA-A832-D2CD5C769DB5}"/>
              </a:ext>
            </a:extLst>
          </p:cNvPr>
          <p:cNvSpPr txBox="1"/>
          <p:nvPr/>
        </p:nvSpPr>
        <p:spPr>
          <a:xfrm>
            <a:off x="4698459" y="5820828"/>
            <a:ext cx="46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Each Node used 32 CPU cores</a:t>
            </a:r>
          </a:p>
        </p:txBody>
      </p:sp>
    </p:spTree>
    <p:extLst>
      <p:ext uri="{BB962C8B-B14F-4D97-AF65-F5344CB8AC3E}">
        <p14:creationId xmlns:p14="http://schemas.microsoft.com/office/powerpoint/2010/main" val="22085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6728E86-B2E5-4589-94AE-E55AC7EA8E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047025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9614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79E53F9-B946-4504-A9DE-D0552A5105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18034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48457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A17A9A1-8472-4FB4-B32E-3A1A0B9D9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733860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86045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110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15</cp:revision>
  <dcterms:created xsi:type="dcterms:W3CDTF">2026-03-04T06:33:50Z</dcterms:created>
  <dcterms:modified xsi:type="dcterms:W3CDTF">2026-09-28T03:58:26Z</dcterms:modified>
</cp:coreProperties>
</file>